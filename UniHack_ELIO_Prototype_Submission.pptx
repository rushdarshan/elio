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365760" y="3017520"/>
            <a:ext cx="84124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solidFill>
                  <a:srgbClr val="0F172A"/>
                </a:solidFill>
                <a:latin typeface="Arial"/>
              </a:defRPr>
            </a:pPr>
            <a: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CE"/>
                </a:solidFill>
                <a:latin typeface="Arial"/>
              </a:rPr>
              <a:t>Team Name: </a:t>
            </a:r>
            <a:r>
              <a:rPr sz="1200" b="0">
                <a:solidFill>
                  <a:srgbClr val="1E293B"/>
                </a:solidFill>
                <a:latin typeface="Arial"/>
              </a:rPr>
              <a:t>ELIO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CE"/>
                </a:solidFill>
                <a:latin typeface="Arial"/>
              </a:rPr>
              <a:t>Team Leader: </a:t>
            </a:r>
            <a:r>
              <a:rPr sz="1200" b="0">
                <a:solidFill>
                  <a:srgbClr val="1E293B"/>
                </a:solidFill>
                <a:latin typeface="Arial"/>
              </a:rPr>
              <a:t>Darshan K (rushdarshan@gmail.com)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CE"/>
                </a:solidFill>
                <a:latin typeface="Arial"/>
              </a:rPr>
              <a:t>Challenge Statement: </a:t>
            </a:r>
            <a:r>
              <a:rPr sz="1200" b="0">
                <a:solidFill>
                  <a:srgbClr val="1E293B"/>
                </a:solidFill>
                <a:latin typeface="Arial"/>
              </a:rPr>
              <a:t>AI-Powered Product Intelligence for Industrial Commerce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CE"/>
                </a:solidFill>
                <a:latin typeface="Arial"/>
              </a:rPr>
              <a:t>Solution Name: </a:t>
            </a:r>
            <a:r>
              <a:rPr sz="1200" b="0">
                <a:solidFill>
                  <a:srgbClr val="1E293B"/>
                </a:solidFill>
                <a:latin typeface="Arial"/>
              </a:rPr>
              <a:t>ELIO — Evidence-Gated Catalog Intelligence &amp; Syndication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65760" y="777240"/>
            <a:ext cx="841248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800"/>
              <a:buFont typeface="Arial"/>
              <a:buNone/>
              <a:defRPr sz="1900" b="1">
                <a:solidFill>
                  <a:srgbClr val="0F172A"/>
                </a:solidFill>
                <a:latin typeface="Arial"/>
              </a:defRPr>
            </a:pPr>
            <a: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spcAft>
                <a:spcPts val="800"/>
              </a:spcAft>
              <a:defRPr sz="1150" b="1">
                <a:solidFill>
                  <a:srgbClr val="0072CE"/>
                </a:solidFill>
                <a:latin typeface="Arial"/>
              </a:defRPr>
            </a:pPr>
            <a:r>
              <a:t>ELIO — Immutable, Falsifiable Product Intelligence for Industrial Commerce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The Core Problem: </a:t>
            </a:r>
            <a:r>
              <a:rPr sz="1050" b="0">
                <a:solidFill>
                  <a:srgbClr val="1E293B"/>
                </a:solidFill>
                <a:latin typeface="Arial"/>
              </a:rPr>
              <a:t>Industrial distributor feeds arrive with messy, truncated descriptions, placeholder brands ('-- Unbranded --'), non-standard units ('inches' vs 'in'), and unpopulated attribute columns.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The ELIO Solution: </a:t>
            </a:r>
            <a:r>
              <a:rPr sz="1050" b="0">
                <a:solidFill>
                  <a:srgbClr val="1E293B"/>
                </a:solidFill>
                <a:latin typeface="Arial"/>
              </a:rPr>
              <a:t>A deterministic 9-stage DAG that transforms raw 6-column distributor rows into verified 252-column product catalog records with 100% provenance coverage.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Zero-Hallucination Dual-Pass Gate: </a:t>
            </a:r>
            <a:r>
              <a:rPr sz="1050" b="0">
                <a:solidFill>
                  <a:srgbClr val="1E293B"/>
                </a:solidFill>
                <a:latin typeface="Arial"/>
              </a:rPr>
              <a:t>Every emitted attribute is anchored to verbatim character offset spans in manufacturer documentation. If evidence is missing, ELIO honestly refuses rather than fabricating guesses.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Enterprise Provenance &amp; Replay: </a:t>
            </a:r>
            <a:r>
              <a:rPr sz="1050" b="0">
                <a:solidFill>
                  <a:srgbClr val="1E293B"/>
                </a:solidFill>
                <a:latin typeface="Arial"/>
              </a:rPr>
              <a:t>Generates cryptographic execution receipts (rcpt_&lt;sha256&gt;) and append-only decision logs (decision_log.jsonl) enabling 100% byte-identical state replay across audits.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365760" y="777240"/>
            <a:ext cx="8412480" cy="39319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SzPts val="990"/>
              <a:buNone/>
              <a:defRPr sz="1900" b="1">
                <a:solidFill>
                  <a:srgbClr val="0F172A"/>
                </a:solidFill>
                <a:latin typeface="Arial"/>
              </a:defRPr>
            </a:pPr>
            <a:r>
              <a:t>Enrichment, Accuracy &amp; Enterprise Scalability</a:t>
            </a:r>
            <a:endParaRPr sz="1200"/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2CE"/>
                </a:solidFill>
                <a:latin typeface="Arial"/>
              </a:rPr>
              <a:t>1. Minimal Info Enrichment: </a:t>
            </a:r>
            <a:r>
              <a:rPr sz="1000" b="0">
                <a:solidFill>
                  <a:srgbClr val="1E293B"/>
                </a:solidFill>
                <a:latin typeface="Arial"/>
              </a:rPr>
              <a:t>The 9-stage DAG transforms minimal inputs (MPN, Description, Manufacturer) into verified taxonomy classification, normalized attribute sets, and a Universal 5-Variant Description Pack (Invoice, Mobile, Short, Long, Marketing).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2CE"/>
                </a:solidFill>
                <a:latin typeface="Arial"/>
              </a:rPr>
              <a:t>2. Accuracy &amp; Trust Strategy: </a:t>
            </a:r>
            <a:r>
              <a:rPr sz="1000" b="0">
                <a:solidFill>
                  <a:srgbClr val="1E293B"/>
                </a:solidFill>
                <a:latin typeface="Arial"/>
              </a:rPr>
              <a:t>Dual-Pass Verification Gate validates candidate values against verbatim source text or approved 63-entry fraction tables. Employs 4 honest abstention classes when evidence fails.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2CE"/>
                </a:solidFill>
                <a:latin typeface="Arial"/>
              </a:rPr>
              <a:t>3. Human-in-the-Loop Governance: </a:t>
            </a:r>
            <a:r>
              <a:rPr sz="1000" b="0">
                <a:solidFill>
                  <a:srgbClr val="1E293B"/>
                </a:solidFill>
                <a:latin typeface="Arial"/>
              </a:rPr>
              <a:t>Interactive Review Queue allows 1-click Accept/Reject and local overrides, logged to an immutable event-sourced decision stream for audit compliance.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2CE"/>
                </a:solidFill>
                <a:latin typeface="Arial"/>
              </a:rPr>
              <a:t>4. Enterprise Catalog Scalability: </a:t>
            </a:r>
            <a:r>
              <a:rPr sz="1000" b="0">
                <a:solidFill>
                  <a:srgbClr val="1E293B"/>
                </a:solidFill>
                <a:latin typeface="Arial"/>
              </a:rPr>
              <a:t>Processes 1,000 catalog rows in 1.70s (588.2 rows/sec local deterministic throughput) with zero GPU cost and 100% 252-column schema conformity.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365760" y="777240"/>
            <a:ext cx="841248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  <a:defRPr sz="1900" b="1">
                <a:solidFill>
                  <a:srgbClr val="0F172A"/>
                </a:solidFill>
                <a:latin typeface="Arial"/>
              </a:defRPr>
            </a:pPr>
            <a:r>
              <a:t>Opportunities &amp; Unique Selling Proposition (USP)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spcAft>
                <a:spcPts val="50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How ELIO Differs from Existing Tools: </a:t>
            </a:r>
            <a:r>
              <a:rPr sz="1050" b="0">
                <a:solidFill>
                  <a:srgbClr val="1E293B"/>
                </a:solidFill>
                <a:latin typeface="Arial"/>
              </a:rPr>
              <a:t>Traditional PIMs require slow, manual data entry; generic LLMs hallucinate critical engineering tolerances and part specs. ELIO combines deterministic speed with evidence-gated verification.</a:t>
            </a:r>
          </a:p>
          <a:p>
            <a:pPr algn="l">
              <a:spcAft>
                <a:spcPts val="50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Solving the Unilog Challenge Statement: </a:t>
            </a:r>
            <a:r>
              <a:rPr sz="1050" b="0">
                <a:solidFill>
                  <a:srgbClr val="1E293B"/>
                </a:solidFill>
                <a:latin typeface="Arial"/>
              </a:rPr>
              <a:t>Automates Unilog Content Guidelines across 89 UOM categories, 27,000+ brand entities, 161,000+ List of Values rules, and the strict 252-column delivery sequence.</a:t>
            </a:r>
          </a:p>
          <a:p>
            <a:pPr algn="l">
              <a:spcAft>
                <a:spcPts val="50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Core USP — Falsifiable AI: </a:t>
            </a:r>
            <a:r>
              <a:rPr sz="1050" b="0">
                <a:solidFill>
                  <a:srgbClr val="1E293B"/>
                </a:solidFill>
                <a:latin typeface="Arial"/>
              </a:rPr>
              <a:t>'If an attribute value cannot be proven with verbatim source evidence, ELIO refuses to guess.' Honest, transparent abstentions over confident hallucinations.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365760" y="777240"/>
            <a:ext cx="841248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1800"/>
              <a:buFont typeface="Arial"/>
              <a:buNone/>
              <a:defRPr sz="1900" b="1">
                <a:solidFill>
                  <a:srgbClr val="0F172A"/>
                </a:solidFill>
                <a:latin typeface="Arial"/>
              </a:defRPr>
            </a:pPr>
            <a:r>
              <a:t>Key Features Offered by ELIO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spcAft>
                <a:spcPts val="350"/>
              </a:spcAft>
            </a:pPr>
            <a:r>
              <a:rPr sz="1000" b="1">
                <a:solidFill>
                  <a:srgbClr val="0072CE"/>
                </a:solidFill>
                <a:latin typeface="Arial"/>
              </a:rPr>
              <a:t>1. 9-Stage Evidence-Gated DAG: </a:t>
            </a:r>
            <a:r>
              <a:rPr sz="1000" b="0">
                <a:solidFill>
                  <a:srgbClr val="1E293B"/>
                </a:solidFill>
                <a:latin typeface="Arial"/>
              </a:rPr>
              <a:t>Ingest, entity resolution, taxonomy, retrieval, extraction, dual-pass verification, quality gate, 5-variant descriptions, and 252-column projection.</a:t>
            </a:r>
          </a:p>
          <a:p>
            <a:pPr algn="l">
              <a:spcAft>
                <a:spcPts val="350"/>
              </a:spcAft>
            </a:pPr>
            <a:r>
              <a:rPr sz="1000" b="1">
                <a:solidFill>
                  <a:srgbClr val="0072CE"/>
                </a:solidFill>
                <a:latin typeface="Arial"/>
              </a:rPr>
              <a:t>2. Master UOM &amp; Trade Fraction Normalizer: </a:t>
            </a:r>
            <a:r>
              <a:rPr sz="1000" b="0">
                <a:solidFill>
                  <a:srgbClr val="1E293B"/>
                </a:solidFill>
                <a:latin typeface="Arial"/>
              </a:rPr>
              <a:t>Strict compliance with ~500 approved abbreviations across 89 physical dimensions, with exact fraction mapping (e.g., 50.25 in -&gt; 50-1/4 in).</a:t>
            </a:r>
          </a:p>
          <a:p>
            <a:pPr algn="l">
              <a:spcAft>
                <a:spcPts val="350"/>
              </a:spcAft>
            </a:pPr>
            <a:r>
              <a:rPr sz="1000" b="1">
                <a:solidFill>
                  <a:srgbClr val="0072CE"/>
                </a:solidFill>
                <a:latin typeface="Arial"/>
              </a:rPr>
              <a:t>3. Universal 5-Variant Description Engine: </a:t>
            </a:r>
            <a:r>
              <a:rPr sz="1000" b="0">
                <a:solidFill>
                  <a:srgbClr val="1E293B"/>
                </a:solidFill>
                <a:latin typeface="Arial"/>
              </a:rPr>
              <a:t>Constructs Invoice (&lt;=40 char, CAPS), Mobile (60-80 char), Short (Brand+Series+MPN+Type), Long, and Marketing descriptions strictly from verified facts.</a:t>
            </a:r>
          </a:p>
          <a:p>
            <a:pPr algn="l">
              <a:spcAft>
                <a:spcPts val="35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4. Interactive Custody Drawer &amp; Proof Graph: </a:t>
            </a:r>
            <a:r>
              <a:rPr sz="1050" b="0">
                <a:solidFill>
                  <a:srgbClr val="1E293B"/>
                </a:solidFill>
                <a:latin typeface="Arial"/>
              </a:rPr>
              <a:t>Inspect source URLs, document pages, exact character spans, and recompute SHA-256 custody hashes live in the web cockpit.</a:t>
            </a:r>
          </a:p>
          <a:p>
            <a:pPr algn="l">
              <a:spcAft>
                <a:spcPts val="350"/>
              </a:spcAft>
            </a:pPr>
            <a:r>
              <a:rPr sz="1000" b="1">
                <a:solidFill>
                  <a:srgbClr val="0072CE"/>
                </a:solidFill>
                <a:latin typeface="Arial"/>
              </a:rPr>
              <a:t>5. Deterministic Decision Replay: </a:t>
            </a:r>
            <a:r>
              <a:rPr sz="1000" b="0">
                <a:solidFill>
                  <a:srgbClr val="1E293B"/>
                </a:solidFill>
                <a:latin typeface="Arial"/>
              </a:rPr>
              <a:t>Reconstructs full catalog state byte-identically from append-only JSONL decision logs.</a:t>
            </a:r>
          </a:p>
          <a:p>
            <a:pPr algn="l">
              <a:spcAft>
                <a:spcPts val="350"/>
              </a:spcAft>
            </a:pPr>
            <a:r>
              <a:rPr sz="1000" b="1">
                <a:solidFill>
                  <a:srgbClr val="0072CE"/>
                </a:solidFill>
                <a:latin typeface="Arial"/>
              </a:rPr>
              <a:t>6. Distributor Entity Blacklist: </a:t>
            </a:r>
            <a:r>
              <a:rPr sz="1000" b="0">
                <a:solidFill>
                  <a:srgbClr val="1E293B"/>
                </a:solidFill>
                <a:latin typeface="Arial"/>
              </a:rPr>
              <a:t>Prevents supplier names (e.g. 'Appliance Dealers Cooperative') from poisoning brand/manufacturer fields.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800"/>
              <a:buFont typeface="Arial"/>
              <a:buNone/>
              <a:defRPr sz="1900" b="1">
                <a:solidFill>
                  <a:srgbClr val="0F172A"/>
                </a:solidFill>
                <a:latin typeface="Arial"/>
              </a:defRPr>
            </a:pPr>
            <a:r>
              <a:t>Process Flow — 9-Stage Evidence-Gated DAG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800"/>
              <a:buFont typeface="Arial"/>
              <a:buNone/>
              <a:defRPr sz="1900" b="1">
                <a:solidFill>
                  <a:srgbClr val="0F172A"/>
                </a:solidFill>
                <a:latin typeface="Arial"/>
              </a:defRPr>
            </a:pPr>
            <a:r>
              <a:t>ELIO Cockpit — 5-Surface Operations Dashboard &amp; Proof Graph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4" name="Picture 143" descr="proof_graph_verified_17873745894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71600"/>
            <a:ext cx="8412480" cy="33649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800"/>
              <a:buFont typeface="Arial"/>
              <a:buNone/>
              <a:defRPr sz="1900" b="1">
                <a:solidFill>
                  <a:srgbClr val="0F172A"/>
                </a:solidFill>
                <a:latin typeface="Arial"/>
              </a:defRPr>
            </a:pPr>
            <a:r>
              <a:t>Architecture Diagram — Three-Layer System Design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365760" y="777240"/>
            <a:ext cx="841248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  <a:defRPr sz="1900" b="1">
                <a:solidFill>
                  <a:srgbClr val="0F172A"/>
                </a:solidFill>
                <a:latin typeface="Arial"/>
              </a:defRPr>
            </a:pPr>
            <a: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spcAft>
                <a:spcPts val="45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Core DAG Pipeline Engine: </a:t>
            </a:r>
            <a:r>
              <a:rPr sz="1050" b="0">
                <a:solidFill>
                  <a:srgbClr val="1E293B"/>
                </a:solidFill>
                <a:latin typeface="Arial"/>
              </a:rPr>
              <a:t>Python 3.13, Pydantic v2 (EnrichedRecord, ClaimRecord, SourceEvidence), RapidFuzz (fuzzy brand resolution), Pandas, Openpyxl.</a:t>
            </a:r>
          </a:p>
          <a:p>
            <a:pPr algn="l">
              <a:spcAft>
                <a:spcPts val="45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State &amp; Provenance Engine: </a:t>
            </a:r>
            <a:r>
              <a:rPr sz="1050" b="0">
                <a:solidFill>
                  <a:srgbClr val="1E293B"/>
                </a:solidFill>
                <a:latin typeface="Arial"/>
              </a:rPr>
              <a:t>Waku/Cambium-style RunStore with SHA-256 cryptographic receipts, JSONL append-only decision stream, and byte-identical replay engine.</a:t>
            </a:r>
          </a:p>
          <a:p>
            <a:pPr algn="l">
              <a:spcAft>
                <a:spcPts val="45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Frontend Operations Cockpit: </a:t>
            </a:r>
            <a:r>
              <a:rPr sz="1050" b="0">
                <a:solidFill>
                  <a:srgbClr val="1E293B"/>
                </a:solidFill>
                <a:latin typeface="Arial"/>
              </a:rPr>
              <a:t>Next.js 16.3 (App Router), React 19, TypeScript, GSAP Core &amp; useGSAP hook (60fps performance), Vanilla CSS design tokens.</a:t>
            </a:r>
          </a:p>
          <a:p>
            <a:pPr algn="l">
              <a:spcAft>
                <a:spcPts val="45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Evaluation &amp; Quality Gates: </a:t>
            </a:r>
            <a:r>
              <a:rPr sz="1050" b="0">
                <a:solidFill>
                  <a:srgbClr val="1E293B"/>
                </a:solidFill>
                <a:latin typeface="Arial"/>
              </a:rPr>
              <a:t>Automated 12-gate test harness (verify_everything.py), clean-room evaluator, adversarial holdout generator (Seed-42).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365760" y="777240"/>
            <a:ext cx="841248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  <a:defRPr sz="1900" b="1">
                <a:solidFill>
                  <a:srgbClr val="0F172A"/>
                </a:solidFill>
                <a:latin typeface="Arial"/>
              </a:defRPr>
            </a:pPr>
            <a:r>
              <a:t>Estimated Implementation &amp; Operational Cost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spcAft>
                <a:spcPts val="45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Compute Footprint ($0.00 GPU Cost): </a:t>
            </a:r>
            <a:r>
              <a:rPr sz="1050" b="0">
                <a:solidFill>
                  <a:srgbClr val="1E293B"/>
                </a:solidFill>
                <a:latin typeface="Arial"/>
              </a:rPr>
              <a:t>The entire deterministic DAG runs on standard CPU instances. Enriches 1,000 catalog rows in 1.70 seconds with minimal memory overhead.</a:t>
            </a:r>
          </a:p>
          <a:p>
            <a:pPr algn="l">
              <a:spcAft>
                <a:spcPts val="45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Token &amp; API Cost: </a:t>
            </a:r>
            <a:r>
              <a:rPr sz="1050" b="0">
                <a:solidFill>
                  <a:srgbClr val="1E293B"/>
                </a:solidFill>
                <a:latin typeface="Arial"/>
              </a:rPr>
              <a:t>$0.00 token cost for deterministic baseline extraction; &lt;$0.002 per row when proposal layer is active (94% cache hit rate).</a:t>
            </a:r>
          </a:p>
          <a:p>
            <a:pPr algn="l">
              <a:spcAft>
                <a:spcPts val="45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Hosting &amp; Maintenance: </a:t>
            </a:r>
            <a:r>
              <a:rPr sz="1050" b="0">
                <a:solidFill>
                  <a:srgbClr val="1E293B"/>
                </a:solidFill>
                <a:latin typeface="Arial"/>
              </a:rPr>
              <a:t>Deployable as lightweight containers (FastAPI / Next.js) on AWS Lambda, Cloud Run, or on-premise Kubernetes (~$15 - $30 / month base).</a:t>
            </a:r>
          </a:p>
          <a:p>
            <a:pPr algn="l">
              <a:spcAft>
                <a:spcPts val="45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Return on Investment (ROI): </a:t>
            </a:r>
            <a:r>
              <a:rPr sz="1050" b="0">
                <a:solidFill>
                  <a:srgbClr val="1E293B"/>
                </a:solidFill>
                <a:latin typeface="Arial"/>
              </a:rPr>
              <a:t>Reduces manual catalog enrichment time by &gt;95% while eliminating costly e-commerce product return rates caused by inaccurate specs.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800"/>
              <a:buFont typeface="Arial"/>
              <a:buNone/>
              <a:defRPr sz="1900" b="1">
                <a:solidFill>
                  <a:srgbClr val="0F172A"/>
                </a:solidFill>
                <a:latin typeface="Arial"/>
              </a:defRPr>
            </a:pPr>
            <a:r>
              <a:t>Snapshots of the Live MVP Cockpit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8" name="Picture 167" descr="clean_dashboard_cockpit_17873685667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71600"/>
            <a:ext cx="8412480" cy="33649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365760" y="777240"/>
            <a:ext cx="841248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  <a:defRPr sz="1900" b="1">
                <a:solidFill>
                  <a:srgbClr val="0F172A"/>
                </a:solidFill>
                <a:latin typeface="Arial"/>
              </a:defRPr>
            </a:pPr>
            <a:r>
              <a:t>Future Development &amp; Enterprise Roadmap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spcAft>
                <a:spcPts val="45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1. Multi-Modal Technical Drawing Parsing: </a:t>
            </a:r>
            <a:r>
              <a:rPr sz="1050" b="0">
                <a:solidFill>
                  <a:srgbClr val="1E293B"/>
                </a:solidFill>
                <a:latin typeface="Arial"/>
              </a:rPr>
              <a:t>Extract dimensional schematics and wiring diagrams directly from manufacturer PDF spec sheets via computer vision.</a:t>
            </a:r>
          </a:p>
          <a:p>
            <a:pPr algn="l">
              <a:spcAft>
                <a:spcPts val="45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2. Automated Live Manufacturer Crawlers: </a:t>
            </a:r>
            <a:r>
              <a:rPr sz="1050" b="0">
                <a:solidFill>
                  <a:srgbClr val="1E293B"/>
                </a:solidFill>
                <a:latin typeface="Arial"/>
              </a:rPr>
              <a:t>Continuous crawler network indexing official OEM portal updates with automated staleness detection.</a:t>
            </a:r>
          </a:p>
          <a:p>
            <a:pPr algn="l">
              <a:spcAft>
                <a:spcPts val="45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3. Federated Distributor Syndication: </a:t>
            </a:r>
            <a:r>
              <a:rPr sz="1050" b="0">
                <a:solidFill>
                  <a:srgbClr val="1E293B"/>
                </a:solidFill>
                <a:latin typeface="Arial"/>
              </a:rPr>
              <a:t>Real-time webhook syndication to Akeneo, Salsify, and Syndigo PIM endpoints via GraphQL.</a:t>
            </a:r>
          </a:p>
          <a:p>
            <a:pPr algn="l">
              <a:spcAft>
                <a:spcPts val="450"/>
              </a:spcAft>
            </a:pPr>
            <a:r>
              <a:rPr sz="1050" b="1">
                <a:solidFill>
                  <a:srgbClr val="0072CE"/>
                </a:solidFill>
                <a:latin typeface="Arial"/>
              </a:rPr>
              <a:t>4. Collaborative Review Hub: </a:t>
            </a:r>
            <a:r>
              <a:rPr sz="1050" b="0">
                <a:solidFill>
                  <a:srgbClr val="1E293B"/>
                </a:solidFill>
                <a:latin typeface="Arial"/>
              </a:rPr>
              <a:t>Multi-user role-based governance with cryptographic signatures for distributor catalog sign-offs.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365760" y="777240"/>
            <a:ext cx="841248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  <a:defRPr sz="1900" b="1">
                <a:solidFill>
                  <a:srgbClr val="0F172A"/>
                </a:solidFill>
                <a:latin typeface="Arial"/>
              </a:defRPr>
            </a:pPr>
            <a:r>
              <a:t>Submission Links &amp; Verification Resources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072CE"/>
                </a:solidFill>
                <a:latin typeface="Arial"/>
              </a:rPr>
              <a:t>GitHub Public Repository: </a:t>
            </a:r>
            <a:r>
              <a:rPr sz="1100" b="0">
                <a:solidFill>
                  <a:srgbClr val="1E293B"/>
                </a:solidFill>
                <a:latin typeface="Arial"/>
              </a:rPr>
              <a:t>https://github.com/rushdarshan/Elio (Frozen at commit bar-5-clean)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072CE"/>
                </a:solidFill>
                <a:latin typeface="Arial"/>
              </a:rPr>
              <a:t>Interactive Prototype Cockpit: </a:t>
            </a:r>
            <a:r>
              <a:rPr sz="1100" b="0">
                <a:solidFill>
                  <a:srgbClr val="1E293B"/>
                </a:solidFill>
                <a:latin typeface="Arial"/>
              </a:rPr>
              <a:t>http://localhost:3000/app/dashboard (Next.js App Router)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072CE"/>
                </a:solidFill>
                <a:latin typeface="Arial"/>
              </a:rPr>
              <a:t>Master 12-Gate Verification Suite: </a:t>
            </a:r>
            <a:r>
              <a:rPr sz="1100" b="0">
                <a:solidFill>
                  <a:srgbClr val="1E293B"/>
                </a:solidFill>
                <a:latin typeface="Arial"/>
              </a:rPr>
              <a:t>python -B scripts/verify_everything.py (All Gates Passing)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072CE"/>
                </a:solidFill>
                <a:latin typeface="Arial"/>
              </a:rPr>
              <a:t>Automated Judge Walk Test: </a:t>
            </a:r>
            <a:r>
              <a:rPr sz="1100" b="0">
                <a:solidFill>
                  <a:srgbClr val="1E293B"/>
                </a:solidFill>
                <a:latin typeface="Arial"/>
              </a:rPr>
              <a:t>python -B scripts/judge_walk.py (5/5 Surfaces Validated)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072CE"/>
                </a:solidFill>
                <a:latin typeface="Arial"/>
              </a:rPr>
              <a:t>Cryptographic Proof Chain Verifier: </a:t>
            </a:r>
            <a:r>
              <a:rPr sz="1100" b="0">
                <a:solidFill>
                  <a:srgbClr val="1E293B"/>
                </a:solidFill>
                <a:latin typeface="Arial"/>
              </a:rPr>
              <a:t>python -B scripts/verify_receipt.py (91/91 Evidence Hashes Verified)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