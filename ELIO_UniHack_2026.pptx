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9144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80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</a:t>
            </a:r>
            <a:endParaRPr lang="en-US" sz="9000" dirty="0"/>
          </a:p>
        </p:txBody>
      </p:sp>
      <p:sp>
        <p:nvSpPr>
          <p:cNvPr id="38" name="Shape 36"/>
          <p:cNvSpPr/>
          <p:nvPr/>
        </p:nvSpPr>
        <p:spPr>
          <a:xfrm>
            <a:off x="457200" y="2103120"/>
            <a:ext cx="1371600" cy="54864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Evidence-Gated Catalog Intelligence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7200" y="2697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6 messy distributor columns into a 252-column catalog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value traces to its source — or is honestly abstained.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83680" y="822960"/>
            <a:ext cx="2286000" cy="822960"/>
          </a:xfrm>
          <a:prstGeom prst="rect">
            <a:avLst>
              <a:gd name="adj" fmla="val 7778"/>
            </a:avLst>
          </a:prstGeom>
          <a:solidFill>
            <a:srgbClr val="14141A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8778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118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5120" y="1280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cells byte-exact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1828800"/>
            <a:ext cx="2286000" cy="822960"/>
          </a:xfrm>
          <a:prstGeom prst="rect">
            <a:avLst>
              <a:gd name="adj" fmla="val 7778"/>
            </a:avLst>
          </a:prstGeom>
          <a:solidFill>
            <a:srgbClr val="14141A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18836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67512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accepted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83680" y="2834640"/>
            <a:ext cx="2286000" cy="822960"/>
          </a:xfrm>
          <a:prstGeom prst="rect">
            <a:avLst>
              <a:gd name="adj" fmla="val 7778"/>
            </a:avLst>
          </a:prstGeom>
          <a:solidFill>
            <a:srgbClr val="14141A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8895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67512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values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83680" y="3840480"/>
            <a:ext cx="2286000" cy="822960"/>
          </a:xfrm>
          <a:prstGeom prst="rect">
            <a:avLst>
              <a:gd name="adj" fmla="val 7778"/>
            </a:avLst>
          </a:prstGeom>
          <a:solidFill>
            <a:srgbClr val="14141A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895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/ 589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675120" y="4297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accepted @ 100%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UniHack 2026  ·  Team ELIO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ELIO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1005840"/>
            <a:ext cx="4206240" cy="1325880"/>
          </a:xfrm>
          <a:prstGeom prst="rect">
            <a:avLst>
              <a:gd name="adj" fmla="val 6897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2D3A00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2588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Rushd Arshan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2588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Pipeline Lead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325880" y="1691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LLM Orchestration · Verification Engine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1005840"/>
            <a:ext cx="4206240" cy="1325880"/>
          </a:xfrm>
          <a:prstGeom prst="rect">
            <a:avLst>
              <a:gd name="adj" fmla="val 6897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83480" y="1280160"/>
            <a:ext cx="640080" cy="640080"/>
          </a:xfrm>
          <a:prstGeom prst="ellipse">
            <a:avLst/>
          </a:prstGeom>
          <a:solidFill>
            <a:srgbClr val="2D3A00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76072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76072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 Lead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760720" y="1691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Dashboard Design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2514600"/>
            <a:ext cx="4206240" cy="1325880"/>
          </a:xfrm>
          <a:prstGeom prst="rect">
            <a:avLst>
              <a:gd name="adj" fmla="val 6897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2D3A00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258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325880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Quality Lead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325880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Gold-set curation · Adversarial testing · Metrics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2514600"/>
            <a:ext cx="4206240" cy="1325880"/>
          </a:xfrm>
          <a:prstGeom prst="rect">
            <a:avLst>
              <a:gd name="adj" fmla="val 6897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83480" y="2788920"/>
            <a:ext cx="640080" cy="640080"/>
          </a:xfrm>
          <a:prstGeom prst="ellipse">
            <a:avLst/>
          </a:prstGeom>
          <a:solidFill>
            <a:srgbClr val="2D3A00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76072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760720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DevOps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760720" y="3200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· Deployment · Documentation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ELIO  ·  UniHack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industrial product catalogs fail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914400"/>
            <a:ext cx="4023360" cy="3840480"/>
          </a:xfrm>
          <a:prstGeom prst="rect">
            <a:avLst>
              <a:gd name="adj" fmla="val 2381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66928" y="1426464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13716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messy distributor columns → need 252-column catalog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1828800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1773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pipelines hallucinate: guess brands from substrings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" y="2231136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1762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attributes from nothing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" y="263347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25786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over gaps with 'N/A'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" y="3035808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298094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a judge can't tell real from made up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33832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confusion: distributor names surfaced as OEM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17720" y="914400"/>
            <a:ext cx="4114800" cy="3840480"/>
          </a:xfrm>
          <a:prstGeom prst="rect">
            <a:avLst>
              <a:gd name="adj" fmla="val 2381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ELIO's Answer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773168" y="1426464"/>
            <a:ext cx="164592" cy="164592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7" name="Text 55"/>
          <p:cNvSpPr/>
          <p:nvPr/>
        </p:nvSpPr>
        <p:spPr>
          <a:xfrm>
            <a:off x="5001768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Evidence-gated: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01768" y="1591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traces to a source URL, page, char-span, and verbatim snippet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73168" y="1956816"/>
            <a:ext cx="164592" cy="164592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0" name="Text 58"/>
          <p:cNvSpPr/>
          <p:nvPr/>
        </p:nvSpPr>
        <p:spPr>
          <a:xfrm>
            <a:off x="5001768" y="1901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abstention: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01768" y="2121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that can't be traced get abstained with a reason — never a guess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73168" y="2487168"/>
            <a:ext cx="164592" cy="164592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3" name="Text 61"/>
          <p:cNvSpPr/>
          <p:nvPr/>
        </p:nvSpPr>
        <p:spPr>
          <a:xfrm>
            <a:off x="5001768" y="2432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DAG: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01768" y="2651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frozen pipeline — reproducible by design, not by luck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73168" y="3017520"/>
            <a:ext cx="164592" cy="164592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6" name="Text 64"/>
          <p:cNvSpPr/>
          <p:nvPr/>
        </p:nvSpPr>
        <p:spPr>
          <a:xfrm>
            <a:off x="5001768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verify: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001768" y="3182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must appear in source text or be a documented unit conversion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773168" y="3547872"/>
            <a:ext cx="164592" cy="164592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9" name="Text 67"/>
          <p:cNvSpPr/>
          <p:nvPr/>
        </p:nvSpPr>
        <p:spPr>
          <a:xfrm>
            <a:off x="5001768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hallucination: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001768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untraceable accepted values across 589 adversarial test values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ELIO Answers the Hard Questions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· Trust · Scale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960120"/>
            <a:ext cx="2788920" cy="384048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1051560"/>
            <a:ext cx="411480" cy="41148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ELIO enrich minimal product info?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2084832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6 inputs (Mfg_Part_Num, Part_Desc, Brand ×3, Manufacturer) and runs per-category attribute extractors (discs, blades, belts, bits, adapters, fasteners, lighting, lumber, wire, electrical). Every extracted attribute is anchored to a verbatim text span — no inference beyond the source.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4434840"/>
            <a:ext cx="2560320" cy="256032"/>
          </a:xfrm>
          <a:prstGeom prst="rect">
            <a:avLst>
              <a:gd name="adj" fmla="val 14286"/>
            </a:avLst>
          </a:prstGeom>
          <a:solidFill>
            <a:srgbClr val="1A1A25"/>
          </a:solidFill>
          <a:ln w="9525">
            <a:solidFill>
              <a:srgbClr val="00D4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439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2.156 attrs/row — seed-7 holdout, assisted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73552" y="960120"/>
            <a:ext cx="2788920" cy="384048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10712" y="1051560"/>
            <a:ext cx="411480" cy="41148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48" name="Text 46"/>
          <p:cNvSpPr/>
          <p:nvPr/>
        </p:nvSpPr>
        <p:spPr>
          <a:xfrm>
            <a:off x="3410712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410712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ELIO ensure accuracy and trust?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10712" y="2084832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verification: (1) value must appear in raw source text; (2) must match a documented unit-conversion table. Failures escalate to human review queue. Auto-accept only on gold-exempt evidence. Result: 118/118 gold cells byte-exact, 0 dual-pass failures.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10712" y="4434840"/>
            <a:ext cx="2560320" cy="256032"/>
          </a:xfrm>
          <a:prstGeom prst="rect">
            <a:avLst>
              <a:gd name="adj" fmla="val 14286"/>
            </a:avLst>
          </a:prstGeom>
          <a:solidFill>
            <a:srgbClr val="1A1A25"/>
          </a:solidFill>
          <a:ln w="9525">
            <a:solidFill>
              <a:srgbClr val="C8D8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56432" y="44439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 blind critic A/B (7 ties)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81344" y="960120"/>
            <a:ext cx="2788920" cy="384048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8504" y="1051560"/>
            <a:ext cx="411480" cy="41148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55" name="Text 53"/>
          <p:cNvSpPr/>
          <p:nvPr/>
        </p:nvSpPr>
        <p:spPr>
          <a:xfrm>
            <a:off x="6318504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318504" y="1536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ELIO scalable for enterprise?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18504" y="2084832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pipeline stages — each row is independent. New manufacturers: add to reference loader. New document formats: add a stage adapter. Continuous updates: re-run from ingest. The 252-column schema is fixed; extractors are additive. Horizontal scale = more workers.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18504" y="4434840"/>
            <a:ext cx="2560320" cy="256032"/>
          </a:xfrm>
          <a:prstGeom prst="rect">
            <a:avLst>
              <a:gd name="adj" fmla="val 14286"/>
            </a:avLst>
          </a:prstGeom>
          <a:solidFill>
            <a:srgbClr val="1A1A25"/>
          </a:solidFill>
          <a:ln w="9525">
            <a:solidFill>
              <a:srgbClr val="9B59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4224" y="44439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1000-row full export, ~90s verify-everything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ELIO Wins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Market fit · Unique advantage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868680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8686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868680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0672" y="8686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Pipeline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23560" y="868680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96712" y="8686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" y="1344168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13441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cells exact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1344168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90672" y="13441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1344168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96712" y="13441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118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1819656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" y="181965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values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17520" y="1819656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90672" y="181965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23560" y="1819656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6712" y="181965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1480" y="2295144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22951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failures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17520" y="2295144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90672" y="22951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23560" y="2295144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96712" y="22951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1480" y="2770632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" y="27706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017520" y="2770632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90672" y="27706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'N/A'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623560" y="2770632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96712" y="27706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Abstained + reason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11480" y="3246120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" y="32461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precision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017520" y="3246120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90672" y="32461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623560" y="3246120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96712" y="32461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589/589 @ 100%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11480" y="3721608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" y="372160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critic A/B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017520" y="3721608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90672" y="372160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623560" y="3721608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96712" y="372160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 (7 ties)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11480" y="4197096"/>
            <a:ext cx="2560320" cy="43891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" y="41970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017520" y="4197096"/>
            <a:ext cx="2560320" cy="43891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90672" y="41970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623560" y="4197096"/>
            <a:ext cx="2560320" cy="438912"/>
          </a:xfrm>
          <a:prstGeom prst="rect">
            <a:avLst/>
          </a:prstGeom>
          <a:solidFill>
            <a:srgbClr val="1A25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96712" y="419709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· page · char-span · snippet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366760" y="914400"/>
            <a:ext cx="640080" cy="640080"/>
          </a:xfrm>
          <a:prstGeom prst="rect">
            <a:avLst>
              <a:gd name="adj" fmla="val 10000"/>
            </a:avLst>
          </a:prstGeom>
          <a:solidFill>
            <a:srgbClr val="2D3A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66760" y="98755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8366760" y="1947672"/>
            <a:ext cx="640080" cy="640080"/>
          </a:xfrm>
          <a:prstGeom prst="rect">
            <a:avLst>
              <a:gd name="adj" fmla="val 10000"/>
            </a:avLst>
          </a:prstGeom>
          <a:solidFill>
            <a:srgbClr val="2D3A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66760" y="2020824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8366760" y="2980944"/>
            <a:ext cx="640080" cy="640080"/>
          </a:xfrm>
          <a:prstGeom prst="rect">
            <a:avLst>
              <a:gd name="adj" fmla="val 10000"/>
            </a:avLst>
          </a:prstGeom>
          <a:solidFill>
            <a:srgbClr val="2D3A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66760" y="305409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8366760" y="4014216"/>
            <a:ext cx="640080" cy="640080"/>
          </a:xfrm>
          <a:prstGeom prst="rect">
            <a:avLst>
              <a:gd name="adj" fmla="val 10000"/>
            </a:avLst>
          </a:prstGeom>
          <a:solidFill>
            <a:srgbClr val="2D3A00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66760" y="4087368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ELIO delivers end-to-end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91440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1051560"/>
            <a:ext cx="36576" cy="6858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987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CSV Ingest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" y="126187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any distributor CSV with 6 required columns. Auto-detects fallback headers.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0" y="91440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1051560"/>
            <a:ext cx="36576" cy="6858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45" name="Text 43"/>
          <p:cNvSpPr/>
          <p:nvPr/>
        </p:nvSpPr>
        <p:spPr>
          <a:xfrm>
            <a:off x="2670048" y="987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Brand &amp; Entity Resolution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70048" y="126187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brand matching. Distributor names never surfaced as OEM manufacturer.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91440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1051560"/>
            <a:ext cx="36576" cy="685800"/>
          </a:xfrm>
          <a:prstGeom prst="rect">
            <a:avLst/>
          </a:prstGeom>
          <a:solidFill>
            <a:srgbClr val="9B59E8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987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Closed Taxonomy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64608" y="126187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&gt; Class &gt; Fine tree. Longest-keyword match with word-boundary safety. No substring traps.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9440" y="91440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1051560"/>
            <a:ext cx="36576" cy="685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3" name="Text 51"/>
          <p:cNvSpPr/>
          <p:nvPr/>
        </p:nvSpPr>
        <p:spPr>
          <a:xfrm>
            <a:off x="7059168" y="987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Attribute Extraction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59168" y="126187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per-category extractors + generic fallback. Regex + unit normalization. Char-span anchored.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196596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2103120"/>
            <a:ext cx="36576" cy="6858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Dual-Pass Verification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5488" y="231343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value must appear verbatim in source. Pass 2: or be a documented unit conversion. Failures → review.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0" y="196596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0320" y="2103120"/>
            <a:ext cx="36576" cy="6858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1" name="Text 59"/>
          <p:cNvSpPr/>
          <p:nvPr/>
        </p:nvSpPr>
        <p:spPr>
          <a:xfrm>
            <a:off x="2670048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Honest Abstention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70048" y="231343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documented classes (gold-blessed blanks, pendant rows, chargers, mixed tape). Never a guess.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54880" y="196596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54880" y="2103120"/>
            <a:ext cx="36576" cy="6858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65" name="Text 63"/>
          <p:cNvSpPr/>
          <p:nvPr/>
        </p:nvSpPr>
        <p:spPr>
          <a:xfrm>
            <a:off x="4864608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Description Generation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64608" y="231343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variants: mobile / invoice / short / long. Char limits enforced. Validity flags.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949440" y="196596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9440" y="2103120"/>
            <a:ext cx="36576" cy="685800"/>
          </a:xfrm>
          <a:prstGeom prst="rect">
            <a:avLst/>
          </a:prstGeom>
          <a:solidFill>
            <a:srgbClr val="9B59E8"/>
          </a:solidFill>
          <a:ln/>
        </p:spPr>
      </p:sp>
      <p:sp>
        <p:nvSpPr>
          <p:cNvPr id="69" name="Text 67"/>
          <p:cNvSpPr/>
          <p:nvPr/>
        </p:nvSpPr>
        <p:spPr>
          <a:xfrm>
            <a:off x="7059168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252-Column Export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059168" y="231343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UTF-8-sig encoding (Excel-safe). Matches delivery format exactly. SHA256-bound manifest.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5760" y="301752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" y="3154680"/>
            <a:ext cx="36576" cy="6858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73" name="Text 71"/>
          <p:cNvSpPr/>
          <p:nvPr/>
        </p:nvSpPr>
        <p:spPr>
          <a:xfrm>
            <a:off x="475488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Evidence Dossier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5488" y="336499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value: source URL, page number, char-span, verbatim snippet in demo.html.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560320" y="301752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60320" y="3154680"/>
            <a:ext cx="36576" cy="6858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77" name="Text 75"/>
          <p:cNvSpPr/>
          <p:nvPr/>
        </p:nvSpPr>
        <p:spPr>
          <a:xfrm>
            <a:off x="2670048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Live Dashboard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670048" y="336499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cockpit: upload → enrich → review queue → override → export. Evidence drawer per row.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54880" y="301752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0" y="3154680"/>
            <a:ext cx="36576" cy="685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1" name="Text 79"/>
          <p:cNvSpPr/>
          <p:nvPr/>
        </p:nvSpPr>
        <p:spPr>
          <a:xfrm>
            <a:off x="4864608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Adversarial Hardening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864608" y="336499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rows, 589 values, difficulty-stratified. 100% precision. 0 leakage after freeze.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949440" y="3017520"/>
            <a:ext cx="2103120" cy="960120"/>
          </a:xfrm>
          <a:prstGeom prst="rect">
            <a:avLst>
              <a:gd name="adj" fmla="val 7619"/>
            </a:avLst>
          </a:prstGeom>
          <a:solidFill>
            <a:srgbClr val="14141A"/>
          </a:solidFill>
          <a:ln w="9525">
            <a:solidFill>
              <a:srgbClr val="2525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49440" y="3154680"/>
            <a:ext cx="36576" cy="685800"/>
          </a:xfrm>
          <a:prstGeom prst="rect">
            <a:avLst/>
          </a:prstGeom>
          <a:solidFill>
            <a:srgbClr val="9B59E8"/>
          </a:solidFill>
          <a:ln/>
        </p:spPr>
      </p:sp>
      <p:sp>
        <p:nvSpPr>
          <p:cNvPr id="85" name="Text 83"/>
          <p:cNvSpPr/>
          <p:nvPr/>
        </p:nvSpPr>
        <p:spPr>
          <a:xfrm>
            <a:off x="7059168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Verify-Everything Script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059168" y="3364992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12-gate acceptance grid, live, ~90s. All headline numbers regenerated on demand.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9-Stage DAG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Evidence-gated catalog enrichment pipeline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109728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5488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" y="160020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input cols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920240" y="1472184"/>
            <a:ext cx="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130552" y="109728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194560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194560" y="160020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OEM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39312" y="1472184"/>
            <a:ext cx="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849624" y="109728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3632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913632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913632" y="160020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Dept·Class·Fine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58384" y="1472184"/>
            <a:ext cx="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568696" y="109728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32704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632704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32704" y="160020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extractors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077456" y="1472184"/>
            <a:ext cx="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287768" y="109728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51776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351776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351776" y="160020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042148" y="1847088"/>
            <a:ext cx="0" cy="54864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568696" y="260604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32704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632704" y="26791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32704" y="310896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568696" y="2980944"/>
            <a:ext cx="-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849624" y="260604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13632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913632" y="26791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913632" y="310896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/ review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849624" y="2980944"/>
            <a:ext cx="-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130552" y="260604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9456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2194560" y="26791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2194560" y="310896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130552" y="2980944"/>
            <a:ext cx="-201168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11480" y="2606040"/>
            <a:ext cx="1508760" cy="749808"/>
          </a:xfrm>
          <a:prstGeom prst="rect">
            <a:avLst>
              <a:gd name="adj" fmla="val 9756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475488" y="26791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475488" y="310896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columns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492240" y="3566160"/>
            <a:ext cx="2377440" cy="548640"/>
          </a:xfrm>
          <a:prstGeom prst="rect">
            <a:avLst>
              <a:gd name="adj" fmla="val 11667"/>
            </a:avLst>
          </a:prstGeom>
          <a:solidFill>
            <a:srgbClr val="2000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37960" y="35753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Verification failures → Human Review Queue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812280" y="2606040"/>
            <a:ext cx="0" cy="950976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commit 38db2af  (tag: bar-4-freeze)  ·  Reproducible: python -B scripts\verify_everything.py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— ELIO Cockpit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Enrich → Review → Override → Export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914400"/>
            <a:ext cx="8321040" cy="3977640"/>
          </a:xfrm>
          <a:prstGeom prst="rect">
            <a:avLst>
              <a:gd name="adj" fmla="val 2299"/>
            </a:avLst>
          </a:prstGeom>
          <a:solidFill>
            <a:srgbClr val="0D0D12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914400"/>
            <a:ext cx="502920" cy="3977640"/>
          </a:xfrm>
          <a:prstGeom prst="rect">
            <a:avLst/>
          </a:prstGeom>
          <a:solidFill>
            <a:srgbClr val="14141A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0" y="914400"/>
            <a:ext cx="7818120" cy="411480"/>
          </a:xfrm>
          <a:prstGeom prst="rect">
            <a:avLst/>
          </a:prstGeom>
          <a:solidFill>
            <a:srgbClr val="14141A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9509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 Cockpit  · 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9509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Upload CSV    📊 Demo 50    📁 Full 1000    [ Export CSV 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60120" y="1389888"/>
            <a:ext cx="1828800" cy="685800"/>
          </a:xfrm>
          <a:prstGeom prst="rect">
            <a:avLst>
              <a:gd name="adj" fmla="val 9333"/>
            </a:avLst>
          </a:prstGeom>
          <a:solidFill>
            <a:srgbClr val="14141A"/>
          </a:solidFill>
          <a:ln w="9525">
            <a:solidFill>
              <a:srgbClr val="00D4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1426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005840" y="17739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26080" y="1389888"/>
            <a:ext cx="1828800" cy="685800"/>
          </a:xfrm>
          <a:prstGeom prst="rect">
            <a:avLst>
              <a:gd name="adj" fmla="val 9333"/>
            </a:avLst>
          </a:prstGeom>
          <a:solidFill>
            <a:srgbClr val="14141A"/>
          </a:solidFill>
          <a:ln w="9525">
            <a:solidFill>
              <a:srgbClr val="C8D8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1426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2971800" y="17739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1389888"/>
            <a:ext cx="1828800" cy="685800"/>
          </a:xfrm>
          <a:prstGeom prst="rect">
            <a:avLst>
              <a:gd name="adj" fmla="val 9333"/>
            </a:avLst>
          </a:prstGeom>
          <a:solidFill>
            <a:srgbClr val="14141A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1426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937760" y="17739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58000" y="1389888"/>
            <a:ext cx="1828800" cy="685800"/>
          </a:xfrm>
          <a:prstGeom prst="rect">
            <a:avLst>
              <a:gd name="adj" fmla="val 9333"/>
            </a:avLst>
          </a:prstGeom>
          <a:solidFill>
            <a:srgbClr val="14141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1426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903720" y="17739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60120" y="2148840"/>
            <a:ext cx="7680960" cy="2606040"/>
          </a:xfrm>
          <a:prstGeom prst="rect">
            <a:avLst>
              <a:gd name="adj" fmla="val 2456"/>
            </a:avLst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4128" y="22128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212848" y="22128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10128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/ Class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956048" y="2212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Extracted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876288" y="22128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065008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60120" y="2487168"/>
            <a:ext cx="7680960" cy="0"/>
          </a:xfrm>
          <a:prstGeom prst="line">
            <a:avLst/>
          </a:prstGeom>
          <a:noFill/>
          <a:ln w="6350">
            <a:solidFill>
              <a:srgbClr val="2525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0120" y="2542032"/>
            <a:ext cx="7680960" cy="420624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71" name="Text 69"/>
          <p:cNvSpPr/>
          <p:nvPr/>
        </p:nvSpPr>
        <p:spPr>
          <a:xfrm>
            <a:off x="1024128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100-9010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212848" y="26151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10128" y="26151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Abrasives / Cutting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956048" y="26151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dia=100mm, arbor=16mm, RPM=13300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876288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065008" y="26151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ACCPT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60120" y="2999232"/>
            <a:ext cx="7680960" cy="420624"/>
          </a:xfrm>
          <a:prstGeom prst="rect">
            <a:avLst/>
          </a:prstGeom>
          <a:solidFill>
            <a:srgbClr val="14141A"/>
          </a:solidFill>
          <a:ln/>
        </p:spPr>
      </p:sp>
      <p:sp>
        <p:nvSpPr>
          <p:cNvPr id="78" name="Text 76"/>
          <p:cNvSpPr/>
          <p:nvPr/>
        </p:nvSpPr>
        <p:spPr>
          <a:xfrm>
            <a:off x="1024128" y="3072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XFR-2201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212848" y="3072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DEWALT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310128" y="3072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Tools / Bits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956048" y="3072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size=1/4in, drive=hex, L=76mm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876288" y="3072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065008" y="30723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ACCPT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60120" y="3456432"/>
            <a:ext cx="7680960" cy="420624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85" name="Text 83"/>
          <p:cNvSpPr/>
          <p:nvPr/>
        </p:nvSpPr>
        <p:spPr>
          <a:xfrm>
            <a:off x="1024128" y="3529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LUM-8FT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212848" y="3529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310128" y="3529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Lumber / Dimensional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4956048" y="35295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876288" y="3529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ABSTAIN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065008" y="35295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ABSTN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960120" y="3913632"/>
            <a:ext cx="7680960" cy="420624"/>
          </a:xfrm>
          <a:prstGeom prst="rect">
            <a:avLst/>
          </a:prstGeom>
          <a:solidFill>
            <a:srgbClr val="14141A"/>
          </a:solidFill>
          <a:ln/>
        </p:spPr>
      </p:sp>
      <p:sp>
        <p:nvSpPr>
          <p:cNvPr id="92" name="Text 90"/>
          <p:cNvSpPr/>
          <p:nvPr/>
        </p:nvSpPr>
        <p:spPr>
          <a:xfrm>
            <a:off x="1024128" y="39867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AC-DUALC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212848" y="3986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310128" y="39867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/ Chargers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956048" y="39867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76288" y="39867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065008" y="3986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REVIEW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960120" y="47091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open Evidence Drawer: source URL · page · char-span · verbatim snippet · override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Three-layer: Data · Pipeline · UI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914400"/>
            <a:ext cx="2743200" cy="3657600"/>
          </a:xfrm>
          <a:prstGeom prst="rect">
            <a:avLst>
              <a:gd name="adj" fmla="val 3333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914400"/>
            <a:ext cx="2743200" cy="384048"/>
          </a:xfrm>
          <a:prstGeom prst="rect">
            <a:avLst>
              <a:gd name="adj" fmla="val 23810"/>
            </a:avLst>
          </a:prstGeom>
          <a:solidFill>
            <a:srgbClr val="00D4C8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1188720"/>
            <a:ext cx="2743200" cy="10972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" y="1389888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1335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CSV Upload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776" y="1719072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required columns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3776" y="2048256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file hash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" y="2377440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23225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validation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3776" y="2706624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FormData → /api/run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08960" y="2743200"/>
            <a:ext cx="182880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291840" y="914400"/>
            <a:ext cx="2743200" cy="3657600"/>
          </a:xfrm>
          <a:prstGeom prst="rect">
            <a:avLst>
              <a:gd name="adj" fmla="val 3333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1840" y="914400"/>
            <a:ext cx="2743200" cy="384048"/>
          </a:xfrm>
          <a:prstGeom prst="rect">
            <a:avLst>
              <a:gd name="adj" fmla="val 23810"/>
            </a:avLst>
          </a:prstGeom>
          <a:solidFill>
            <a:srgbClr val="C8D84A"/>
          </a:solidFill>
          <a:ln/>
        </p:spPr>
      </p:sp>
      <p:sp>
        <p:nvSpPr>
          <p:cNvPr id="57" name="Shape 55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58" name="Text 56"/>
          <p:cNvSpPr/>
          <p:nvPr/>
        </p:nvSpPr>
        <p:spPr>
          <a:xfrm>
            <a:off x="338328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LAYER (Python DAG)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19856" y="1389888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0" name="Text 58"/>
          <p:cNvSpPr/>
          <p:nvPr/>
        </p:nvSpPr>
        <p:spPr>
          <a:xfrm>
            <a:off x="3566160" y="1335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Ingest + normalize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19856" y="1719072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2" name="Text 60"/>
          <p:cNvSpPr/>
          <p:nvPr/>
        </p:nvSpPr>
        <p:spPr>
          <a:xfrm>
            <a:off x="356616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Entity resolution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19856" y="2048256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4" name="Text 62"/>
          <p:cNvSpPr/>
          <p:nvPr/>
        </p:nvSpPr>
        <p:spPr>
          <a:xfrm>
            <a:off x="3566160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Taxonomy mapping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419856" y="2377440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6" name="Text 64"/>
          <p:cNvSpPr/>
          <p:nvPr/>
        </p:nvSpPr>
        <p:spPr>
          <a:xfrm>
            <a:off x="3566160" y="23225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Attribute extraction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19856" y="2706624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8" name="Text 66"/>
          <p:cNvSpPr/>
          <p:nvPr/>
        </p:nvSpPr>
        <p:spPr>
          <a:xfrm>
            <a:off x="356616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Description gen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19856" y="3035808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70" name="Text 68"/>
          <p:cNvSpPr/>
          <p:nvPr/>
        </p:nvSpPr>
        <p:spPr>
          <a:xfrm>
            <a:off x="3566160" y="29809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Dual-pass verify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419856" y="3364992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72" name="Text 70"/>
          <p:cNvSpPr/>
          <p:nvPr/>
        </p:nvSpPr>
        <p:spPr>
          <a:xfrm>
            <a:off x="3566160" y="3310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Quality gate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419856" y="3694176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74" name="Text 72"/>
          <p:cNvSpPr/>
          <p:nvPr/>
        </p:nvSpPr>
        <p:spPr>
          <a:xfrm>
            <a:off x="356616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Abstention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419856" y="4023360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76" name="Text 74"/>
          <p:cNvSpPr/>
          <p:nvPr/>
        </p:nvSpPr>
        <p:spPr>
          <a:xfrm>
            <a:off x="3566160" y="39684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252-col projection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035040" y="2743200"/>
            <a:ext cx="182880" cy="0"/>
          </a:xfrm>
          <a:prstGeom prst="line">
            <a:avLst/>
          </a:prstGeom>
          <a:noFill/>
          <a:ln w="19050">
            <a:solidFill>
              <a:srgbClr val="C8D84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6217920" y="914400"/>
            <a:ext cx="2743200" cy="3657600"/>
          </a:xfrm>
          <a:prstGeom prst="rect">
            <a:avLst>
              <a:gd name="adj" fmla="val 3333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914400"/>
            <a:ext cx="2743200" cy="384048"/>
          </a:xfrm>
          <a:prstGeom prst="rect">
            <a:avLst>
              <a:gd name="adj" fmla="val 23810"/>
            </a:avLst>
          </a:prstGeom>
          <a:solidFill>
            <a:srgbClr val="9B59E8"/>
          </a:solidFill>
          <a:ln/>
        </p:spPr>
      </p:sp>
      <p:sp>
        <p:nvSpPr>
          <p:cNvPr id="80" name="Shape 78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9B59E8"/>
          </a:solidFill>
          <a:ln/>
        </p:spPr>
      </p:sp>
      <p:sp>
        <p:nvSpPr>
          <p:cNvPr id="81" name="Text 79"/>
          <p:cNvSpPr/>
          <p:nvPr/>
        </p:nvSpPr>
        <p:spPr>
          <a:xfrm>
            <a:off x="630936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UI LAYER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345936" y="1389888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83" name="Text 81"/>
          <p:cNvSpPr/>
          <p:nvPr/>
        </p:nvSpPr>
        <p:spPr>
          <a:xfrm>
            <a:off x="6492240" y="1335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cockpit dashboard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45936" y="1719072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enrich (live)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345936" y="2048256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87" name="Text 85"/>
          <p:cNvSpPr/>
          <p:nvPr/>
        </p:nvSpPr>
        <p:spPr>
          <a:xfrm>
            <a:off x="6492240" y="19933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Explorer: 252-col table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345936" y="2377440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89" name="Text 87"/>
          <p:cNvSpPr/>
          <p:nvPr/>
        </p:nvSpPr>
        <p:spPr>
          <a:xfrm>
            <a:off x="6492240" y="23225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+ overrides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345936" y="2706624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2651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audit trail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345936" y="3035808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29809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drawer (per cell)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345936" y="3364992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95" name="Text 93"/>
          <p:cNvSpPr/>
          <p:nvPr/>
        </p:nvSpPr>
        <p:spPr>
          <a:xfrm>
            <a:off x="6492240" y="3310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(UTF-8-sig)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345936" y="3694176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demo.html (offline)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01018"/>
          </a:solidFill>
          <a:ln/>
        </p:spPr>
      </p:sp>
      <p:sp>
        <p:nvSpPr>
          <p:cNvPr id="99" name="Text 97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bar-4-freeze · pipeline: unihack_catalog/ · scripts/verify_everything.py · All artifacts SHA256-bound in submission_manifest.json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chosen for correctness and transparency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914400"/>
            <a:ext cx="4206240" cy="1920240"/>
          </a:xfrm>
          <a:prstGeom prst="rect">
            <a:avLst>
              <a:gd name="adj" fmla="val 4762"/>
            </a:avLst>
          </a:prstGeom>
          <a:solidFill>
            <a:srgbClr val="14141A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1408176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" y="1353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9-stage DAG, zero dependencies on LLM for extraction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1746504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" y="16916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unit normalization — deterministic, auditable attribute extraction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2084832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" y="2029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defusedxml + lxml — safe XML/HTML parsing of manufacturer pages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2423160"/>
            <a:ext cx="91440" cy="914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8" name="Text 46"/>
          <p:cNvSpPr/>
          <p:nvPr/>
        </p:nvSpPr>
        <p:spPr>
          <a:xfrm>
            <a:off x="704088" y="2368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UTF-8-sig — Excel-safe export, byte-exact with delivery format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914400"/>
            <a:ext cx="4206240" cy="1920240"/>
          </a:xfrm>
          <a:prstGeom prst="rect">
            <a:avLst>
              <a:gd name="adj" fmla="val 4762"/>
            </a:avLst>
          </a:prstGeom>
          <a:solidFill>
            <a:srgbClr val="14141A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Quality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37760" y="1408176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2" name="Text 50"/>
          <p:cNvSpPr/>
          <p:nvPr/>
        </p:nvSpPr>
        <p:spPr>
          <a:xfrm>
            <a:off x="5093208" y="1353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verifier — custom char-span matching against raw source text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37760" y="1746504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4" name="Text 52"/>
          <p:cNvSpPr/>
          <p:nvPr/>
        </p:nvSpPr>
        <p:spPr>
          <a:xfrm>
            <a:off x="5093208" y="16916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manifest — every artifact is hash-bound (submission_manifest.json)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37760" y="2084832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6" name="Text 54"/>
          <p:cNvSpPr/>
          <p:nvPr/>
        </p:nvSpPr>
        <p:spPr>
          <a:xfrm>
            <a:off x="5093208" y="2029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full pipeline test suite, gate assertions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37760" y="2423160"/>
            <a:ext cx="91440" cy="91440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8" name="Text 56"/>
          <p:cNvSpPr/>
          <p:nvPr/>
        </p:nvSpPr>
        <p:spPr>
          <a:xfrm>
            <a:off x="5093208" y="2368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verify_everything.py — 12-gate acceptance grid, runs live in ~90s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1480" y="2971800"/>
            <a:ext cx="4206240" cy="1920240"/>
          </a:xfrm>
          <a:prstGeom prst="rect">
            <a:avLst>
              <a:gd name="adj" fmla="val 4762"/>
            </a:avLst>
          </a:prstGeom>
          <a:solidFill>
            <a:srgbClr val="14141A"/>
          </a:solidFill>
          <a:ln w="12700">
            <a:solidFill>
              <a:srgbClr val="9B59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API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3465576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62" name="Text 60"/>
          <p:cNvSpPr/>
          <p:nvPr/>
        </p:nvSpPr>
        <p:spPr>
          <a:xfrm>
            <a:off x="704088" y="34107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— server components, route handlers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" y="3803904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64" name="Text 62"/>
          <p:cNvSpPr/>
          <p:nvPr/>
        </p:nvSpPr>
        <p:spPr>
          <a:xfrm>
            <a:off x="704088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fully typed cockpit (upload, explorer, review, export tabs)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" y="4142232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66" name="Text 64"/>
          <p:cNvSpPr/>
          <p:nvPr/>
        </p:nvSpPr>
        <p:spPr>
          <a:xfrm>
            <a:off x="704088" y="40873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Tailwind-free vanilla CSS — dark shell #0a0a0d, lime #c8d84a accent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48640" y="4480560"/>
            <a:ext cx="91440" cy="91440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68" name="Text 66"/>
          <p:cNvSpPr/>
          <p:nvPr/>
        </p:nvSpPr>
        <p:spPr>
          <a:xfrm>
            <a:off x="704088" y="44256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/api/run — FormData → Python pipeline → JSON results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00600" y="2971800"/>
            <a:ext cx="4206240" cy="1920240"/>
          </a:xfrm>
          <a:prstGeom prst="rect">
            <a:avLst>
              <a:gd name="adj" fmla="val 4762"/>
            </a:avLst>
          </a:prstGeom>
          <a:solidFill>
            <a:srgbClr val="14141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(Evidence-Gated Only)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937760" y="3465576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2" name="Text 70"/>
          <p:cNvSpPr/>
          <p:nvPr/>
        </p:nvSpPr>
        <p:spPr>
          <a:xfrm>
            <a:off x="5093208" y="34107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used only to propose attribute candidates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937760" y="38039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4" name="Text 72"/>
          <p:cNvSpPr/>
          <p:nvPr/>
        </p:nvSpPr>
        <p:spPr>
          <a:xfrm>
            <a:off x="5093208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gate rejects any proposal not in source text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937760" y="414223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6" name="Text 74"/>
          <p:cNvSpPr/>
          <p:nvPr/>
        </p:nvSpPr>
        <p:spPr>
          <a:xfrm>
            <a:off x="5093208" y="40873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disclosure: docs/DISCLOSURE.md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937760" y="4480560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8" name="Text 76"/>
          <p:cNvSpPr/>
          <p:nvPr/>
        </p:nvSpPr>
        <p:spPr>
          <a:xfrm>
            <a:off x="5093208" y="44256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gate, not the model, decides what ships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Implementation Cost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minimal LLM dependency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1005840"/>
            <a:ext cx="2011680" cy="1417320"/>
          </a:xfrm>
          <a:prstGeom prst="rect">
            <a:avLst>
              <a:gd name="adj" fmla="val 6452"/>
            </a:avLst>
          </a:prstGeom>
          <a:solidFill>
            <a:srgbClr val="1414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1078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02920" y="16276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(Gemini)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18745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50-row batch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(proposals only, gate rejects most)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87752" y="1005840"/>
            <a:ext cx="2011680" cy="1417320"/>
          </a:xfrm>
          <a:prstGeom prst="rect">
            <a:avLst>
              <a:gd name="adj" fmla="val 6452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9192" y="1078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~$2.00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2679192" y="16276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at 1,000 rows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79192" y="18745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batches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within hackathon credit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64024" y="1005840"/>
            <a:ext cx="2011680" cy="1417320"/>
          </a:xfrm>
          <a:prstGeom prst="rect">
            <a:avLst>
              <a:gd name="adj" fmla="val 6452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1078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4855464" y="16276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55464" y="18745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required for pipeline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40296" y="1005840"/>
            <a:ext cx="2011680" cy="1417320"/>
          </a:xfrm>
          <a:prstGeom prst="rect">
            <a:avLst>
              <a:gd name="adj" fmla="val 6452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1736" y="1078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~$5/mo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031736" y="16276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31736" y="18745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tier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Next.js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1480" y="2560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11480" y="2907792"/>
            <a:ext cx="1463040" cy="30175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29077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331720" y="2907792"/>
            <a:ext cx="1234440" cy="30175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0" y="290779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11880" y="2907792"/>
            <a:ext cx="1234440" cy="30175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0" y="290779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 rows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92040" y="2907792"/>
            <a:ext cx="1234440" cy="30175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290779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1,000 rows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72200" y="2907792"/>
            <a:ext cx="3017520" cy="301752"/>
          </a:xfrm>
          <a:prstGeom prst="rect">
            <a:avLst/>
          </a:prstGeom>
          <a:solidFill>
            <a:srgbClr val="1C1C28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0" y="290779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3236976"/>
            <a:ext cx="14630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2369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(proposals)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31720" y="3236976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77440" y="323697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$0.002/1k tok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611880" y="3236976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0" y="323697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892040" y="3236976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323697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72200" y="3236976"/>
            <a:ext cx="301752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323697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 rejects ~70%; net LLM influence small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11480" y="3566160"/>
            <a:ext cx="14630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35661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(regex)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331720" y="3566160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0" y="356616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611880" y="3566160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0" y="356616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892040" y="3566160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0" y="356616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72200" y="3566160"/>
            <a:ext cx="301752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56616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Deterministic; zero marginal cost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11480" y="3895344"/>
            <a:ext cx="14630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389534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331720" y="3895344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377440" y="389534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611880" y="3895344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0" y="389534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892040" y="3895344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37760" y="389534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172200" y="3895344"/>
            <a:ext cx="301752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389534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Python; local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11480" y="4224528"/>
            <a:ext cx="14630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42245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2331720" y="4224528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77440" y="422452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dev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611880" y="4224528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0" y="422452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892040" y="4224528"/>
            <a:ext cx="123444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37760" y="422452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$5/mo prod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172200" y="4224528"/>
            <a:ext cx="3017520" cy="301752"/>
          </a:xfrm>
          <a:prstGeom prst="rect">
            <a:avLst/>
          </a:prstGeom>
          <a:solidFill>
            <a:srgbClr val="14141A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17920" y="422452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tier for demos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11480" y="4553712"/>
            <a:ext cx="1463040" cy="301752"/>
          </a:xfrm>
          <a:prstGeom prst="rect">
            <a:avLst/>
          </a:prstGeom>
          <a:solidFill>
            <a:srgbClr val="1A250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7200" y="45537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(hackathon run)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331720" y="4553712"/>
            <a:ext cx="1234440" cy="301752"/>
          </a:xfrm>
          <a:prstGeom prst="rect">
            <a:avLst/>
          </a:prstGeom>
          <a:solidFill>
            <a:srgbClr val="1A250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377440" y="455371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611880" y="4553712"/>
            <a:ext cx="1234440" cy="301752"/>
          </a:xfrm>
          <a:prstGeom prst="rect">
            <a:avLst/>
          </a:prstGeom>
          <a:solidFill>
            <a:srgbClr val="1A250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657600" y="455371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~$0.10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892040" y="4553712"/>
            <a:ext cx="1234440" cy="301752"/>
          </a:xfrm>
          <a:prstGeom prst="rect">
            <a:avLst/>
          </a:prstGeom>
          <a:solidFill>
            <a:srgbClr val="1A250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937760" y="4553712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~$2.00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6172200" y="4553712"/>
            <a:ext cx="3017520" cy="301752"/>
          </a:xfrm>
          <a:prstGeom prst="rect">
            <a:avLst/>
          </a:prstGeom>
          <a:solidFill>
            <a:srgbClr val="1A250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17920" y="455371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Comfortably within free-tier budgets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— MVP Evidence Explorer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demo.html: search any MPN, see every value's source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914400"/>
            <a:ext cx="4114800" cy="3977640"/>
          </a:xfrm>
          <a:prstGeom prst="rect">
            <a:avLst>
              <a:gd name="adj" fmla="val 2299"/>
            </a:avLst>
          </a:prstGeom>
          <a:solidFill>
            <a:srgbClr val="0D0D12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Dossier — 100-9010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1307592"/>
            <a:ext cx="3931920" cy="0"/>
          </a:xfrm>
          <a:prstGeom prst="line">
            <a:avLst/>
          </a:prstGeom>
          <a:noFill/>
          <a:ln w="6350">
            <a:solidFill>
              <a:srgbClr val="2525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389888"/>
            <a:ext cx="3931920" cy="594360"/>
          </a:xfrm>
          <a:prstGeom prst="rect">
            <a:avLst>
              <a:gd name="adj" fmla="val 7692"/>
            </a:avLst>
          </a:prstGeom>
          <a:solidFill>
            <a:srgbClr val="11112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1426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outer_diameter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719072" y="1426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" y="16367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bosch-pds.com/100-9010  ·  chars 12–19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4360" y="179222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"...diameter: 100 mm, arbor..."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2920" y="2048256"/>
            <a:ext cx="3931920" cy="594360"/>
          </a:xfrm>
          <a:prstGeom prst="rect">
            <a:avLst>
              <a:gd name="adj" fmla="val 7692"/>
            </a:avLst>
          </a:prstGeom>
          <a:solidFill>
            <a:srgbClr val="11112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arbor_size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719072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229514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bosch-pds.com/100-9010  ·  chars 26–33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94360" y="24505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"...arbor: 16 mm, max RPM..."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" y="2706624"/>
            <a:ext cx="3931920" cy="594360"/>
          </a:xfrm>
          <a:prstGeom prst="rect">
            <a:avLst>
              <a:gd name="adj" fmla="val 7692"/>
            </a:avLst>
          </a:prstGeom>
          <a:solidFill>
            <a:srgbClr val="11112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7432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max_rpm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719072" y="2743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13,300 RPM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4360" y="29535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bosch-pds.com/100-9010  ·  chars 42–55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94360" y="31089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"...max RPM: 13300, abrasive..."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2920" y="3364992"/>
            <a:ext cx="3931920" cy="594360"/>
          </a:xfrm>
          <a:prstGeom prst="rect">
            <a:avLst>
              <a:gd name="adj" fmla="val 7692"/>
            </a:avLst>
          </a:prstGeom>
          <a:solidFill>
            <a:srgbClr val="111120"/>
          </a:solidFill>
          <a:ln w="6350">
            <a:solidFill>
              <a:srgbClr val="2525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401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719072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Oxide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4360" y="36118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bosch-pds.com/100-9010  ·  chars 60–74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94360" y="37673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"...Aluminum Oxide abrasive grain..."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02920" y="4023360"/>
            <a:ext cx="3931920" cy="594360"/>
          </a:xfrm>
          <a:prstGeom prst="rect">
            <a:avLst>
              <a:gd name="adj" fmla="val 7692"/>
            </a:avLst>
          </a:prstGeom>
          <a:solidFill>
            <a:srgbClr val="1A080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719072" y="40599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Abstained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94360" y="427024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·  —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94360" y="442569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thickness found in source text"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914400"/>
            <a:ext cx="4069080" cy="3977640"/>
          </a:xfrm>
          <a:prstGeom prst="rect">
            <a:avLst>
              <a:gd name="adj" fmla="val 2299"/>
            </a:avLst>
          </a:prstGeom>
          <a:solidFill>
            <a:srgbClr val="0D0D12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9875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Gate — Proof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754880" y="1307592"/>
            <a:ext cx="3886200" cy="0"/>
          </a:xfrm>
          <a:prstGeom prst="line">
            <a:avLst/>
          </a:prstGeom>
          <a:noFill/>
          <a:ln w="6350">
            <a:solidFill>
              <a:srgbClr val="2525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54880" y="1389888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8032" y="1389888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102352" y="138988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cells byte-exact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98080" y="138988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118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54880" y="1764792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28032" y="1764792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102352" y="176479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failures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498080" y="176479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754880" y="2139696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28032" y="2139696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102352" y="213969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accepted values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498080" y="213969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754880" y="2514600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28032" y="2514600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102352" y="251460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precision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498080" y="251460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/ 589 @ 100%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54880" y="2889504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28032" y="2889504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102352" y="288950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coverage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498080" y="288950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754880" y="3264408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28032" y="3264408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5102352" y="326440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critic A/B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498080" y="326440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– 1 (7 ties)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754880" y="3639312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3639312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5102352" y="3639312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upload E2E (8 adversarial)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498080" y="363931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754880" y="4014216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28032" y="4014216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5102352" y="401421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 export schema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498080" y="401421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754880" y="4389120"/>
            <a:ext cx="3886200" cy="338328"/>
          </a:xfrm>
          <a:prstGeom prst="rect">
            <a:avLst>
              <a:gd name="adj" fmla="val 10811"/>
            </a:avLst>
          </a:prstGeom>
          <a:solidFill>
            <a:srgbClr val="111118"/>
          </a:solidFill>
          <a:ln w="5080">
            <a:solidFill>
              <a:srgbClr val="25253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4389120"/>
            <a:ext cx="25603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5102352" y="438912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vs Bar 3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498080" y="438912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for ELIO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960120"/>
            <a:ext cx="2788920" cy="393192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960120"/>
            <a:ext cx="2788920" cy="347472"/>
          </a:xfrm>
          <a:prstGeom prst="rect">
            <a:avLst>
              <a:gd name="adj" fmla="val 26316"/>
            </a:avLst>
          </a:prstGeom>
          <a:solidFill>
            <a:srgbClr val="00D4C8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1170432"/>
            <a:ext cx="2788920" cy="1371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Scale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1426464"/>
            <a:ext cx="128016" cy="12801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0664" y="1371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 for concurrent enrichment (batch 1000+ rows/min)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2093976"/>
            <a:ext cx="128016" cy="12801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8" name="Text 46"/>
          <p:cNvSpPr/>
          <p:nvPr/>
        </p:nvSpPr>
        <p:spPr>
          <a:xfrm>
            <a:off x="740664" y="203911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GCS input adapters for enterprise file drops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" y="2761488"/>
            <a:ext cx="128016" cy="12801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" y="2706624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page crawler with smart caching layer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2" name="Text 50"/>
          <p:cNvSpPr/>
          <p:nvPr/>
        </p:nvSpPr>
        <p:spPr>
          <a:xfrm>
            <a:off x="740664" y="337413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webhook callbacks for async results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337560" y="960120"/>
            <a:ext cx="2788920" cy="393192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7560" y="960120"/>
            <a:ext cx="2788920" cy="347472"/>
          </a:xfrm>
          <a:prstGeom prst="rect">
            <a:avLst>
              <a:gd name="adj" fmla="val 26316"/>
            </a:avLst>
          </a:prstGeom>
          <a:solidFill>
            <a:srgbClr val="C8D84A"/>
          </a:solidFill>
          <a:ln/>
        </p:spPr>
      </p:sp>
      <p:sp>
        <p:nvSpPr>
          <p:cNvPr id="55" name="Shape 53"/>
          <p:cNvSpPr/>
          <p:nvPr/>
        </p:nvSpPr>
        <p:spPr>
          <a:xfrm>
            <a:off x="3337560" y="1170432"/>
            <a:ext cx="2788920" cy="13716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56" name="Text 54"/>
          <p:cNvSpPr/>
          <p:nvPr/>
        </p:nvSpPr>
        <p:spPr>
          <a:xfrm>
            <a:off x="344728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Intelligence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447288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0" y="1426464"/>
            <a:ext cx="128016" cy="128016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59" name="Text 57"/>
          <p:cNvSpPr/>
          <p:nvPr/>
        </p:nvSpPr>
        <p:spPr>
          <a:xfrm>
            <a:off x="3666744" y="1371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manufacturer PDF library for richer extraction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74720" y="2093976"/>
            <a:ext cx="128016" cy="128016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1" name="Text 59"/>
          <p:cNvSpPr/>
          <p:nvPr/>
        </p:nvSpPr>
        <p:spPr>
          <a:xfrm>
            <a:off x="3666744" y="203911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Auto-taxonomy expansion: detect new categories from data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74720" y="2761488"/>
            <a:ext cx="128016" cy="128016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3" name="Text 61"/>
          <p:cNvSpPr/>
          <p:nvPr/>
        </p:nvSpPr>
        <p:spPr>
          <a:xfrm>
            <a:off x="3666744" y="2706624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on attribute-level (not just pass/fail)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474720" y="3429000"/>
            <a:ext cx="128016" cy="128016"/>
          </a:xfrm>
          <a:prstGeom prst="ellipse">
            <a:avLst/>
          </a:prstGeom>
          <a:solidFill>
            <a:srgbClr val="C8D84A"/>
          </a:solidFill>
          <a:ln/>
        </p:spPr>
      </p:sp>
      <p:sp>
        <p:nvSpPr>
          <p:cNvPr id="65" name="Text 63"/>
          <p:cNvSpPr/>
          <p:nvPr/>
        </p:nvSpPr>
        <p:spPr>
          <a:xfrm>
            <a:off x="3666744" y="337413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Cross-SKU consistency checker (same MPN different descriptions)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63640" y="960120"/>
            <a:ext cx="2788920" cy="3931920"/>
          </a:xfrm>
          <a:prstGeom prst="rect">
            <a:avLst>
              <a:gd name="adj" fmla="val 3279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63640" y="960120"/>
            <a:ext cx="2788920" cy="347472"/>
          </a:xfrm>
          <a:prstGeom prst="rect">
            <a:avLst>
              <a:gd name="adj" fmla="val 26316"/>
            </a:avLst>
          </a:prstGeom>
          <a:solidFill>
            <a:srgbClr val="9B59E8"/>
          </a:solidFill>
          <a:ln/>
        </p:spPr>
      </p:sp>
      <p:sp>
        <p:nvSpPr>
          <p:cNvPr id="68" name="Shape 66"/>
          <p:cNvSpPr/>
          <p:nvPr/>
        </p:nvSpPr>
        <p:spPr>
          <a:xfrm>
            <a:off x="6263640" y="1170432"/>
            <a:ext cx="2788920" cy="137160"/>
          </a:xfrm>
          <a:prstGeom prst="rect">
            <a:avLst/>
          </a:prstGeom>
          <a:solidFill>
            <a:srgbClr val="9B59E8"/>
          </a:solidFill>
          <a:ln/>
        </p:spPr>
      </p:sp>
      <p:sp>
        <p:nvSpPr>
          <p:cNvPr id="69" name="Text 67"/>
          <p:cNvSpPr/>
          <p:nvPr/>
        </p:nvSpPr>
        <p:spPr>
          <a:xfrm>
            <a:off x="637336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Enterprise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373368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8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00800" y="1426464"/>
            <a:ext cx="128016" cy="128016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72" name="Text 70"/>
          <p:cNvSpPr/>
          <p:nvPr/>
        </p:nvSpPr>
        <p:spPr>
          <a:xfrm>
            <a:off x="6592824" y="1371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with per-org custom taxonomies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00800" y="2093976"/>
            <a:ext cx="128016" cy="128016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74" name="Text 72"/>
          <p:cNvSpPr/>
          <p:nvPr/>
        </p:nvSpPr>
        <p:spPr>
          <a:xfrm>
            <a:off x="6592824" y="203911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integrations: Akeneo, Salsify, inRiver connectors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0" y="2761488"/>
            <a:ext cx="128016" cy="128016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76" name="Text 74"/>
          <p:cNvSpPr/>
          <p:nvPr/>
        </p:nvSpPr>
        <p:spPr>
          <a:xfrm>
            <a:off x="6592824" y="2706624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ML-ranked review queue, override learning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400800" y="3429000"/>
            <a:ext cx="128016" cy="128016"/>
          </a:xfrm>
          <a:prstGeom prst="ellipse">
            <a:avLst/>
          </a:prstGeom>
          <a:solidFill>
            <a:srgbClr val="9B59E8"/>
          </a:solidFill>
          <a:ln/>
        </p:spPr>
      </p:sp>
      <p:sp>
        <p:nvSpPr>
          <p:cNvPr id="78" name="Text 76"/>
          <p:cNvSpPr/>
          <p:nvPr/>
        </p:nvSpPr>
        <p:spPr>
          <a:xfrm>
            <a:off x="6592824" y="337413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export: GS1, UNSPSC, eCl@ss standards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Resources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11480" y="7772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judge needs to verify ELIO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" y="1005840"/>
            <a:ext cx="8321040" cy="1234440"/>
          </a:xfrm>
          <a:prstGeom prst="rect">
            <a:avLst>
              <a:gd name="adj" fmla="val 7407"/>
            </a:avLst>
          </a:prstGeom>
          <a:solidFill>
            <a:srgbClr val="14141A"/>
          </a:solidFill>
          <a:ln w="19050">
            <a:solidFill>
              <a:srgbClr val="00D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1430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28016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(Public)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92240" y="11338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github.com/your-org/elio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80160" y="148132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· pipeline · scripts · docs · artifacts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history: freeze at 38db2af, all subsequent = submission surface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2350008"/>
            <a:ext cx="8321040" cy="1234440"/>
          </a:xfrm>
          <a:prstGeom prst="rect">
            <a:avLst>
              <a:gd name="adj" fmla="val 7407"/>
            </a:avLst>
          </a:prstGeom>
          <a:solidFill>
            <a:srgbClr val="14141A"/>
          </a:solidFill>
          <a:ln w="19050">
            <a:solidFill>
              <a:srgbClr val="C8D8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48716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1280160" y="24414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(3 minutes)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92240" y="24780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loom.com/share/elio-demo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80160" y="2825496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walkthrough: CSV upload → enrichment → evidence drawer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50-row batch, review queue, and export in real time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3694176"/>
            <a:ext cx="8321040" cy="1234440"/>
          </a:xfrm>
          <a:prstGeom prst="rect">
            <a:avLst>
              <a:gd name="adj" fmla="val 7407"/>
            </a:avLst>
          </a:prstGeom>
          <a:solidFill>
            <a:srgbClr val="14141A"/>
          </a:solidFill>
          <a:ln w="19050">
            <a:solidFill>
              <a:srgbClr val="9B59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83133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1280160" y="37856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92240" y="3822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9B5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elio-demo.vercel.app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80160" y="4169664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Next.js cockpit — use demo_input_50.csv for instant 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demo.html locally for fully offline evidence explorer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1480" y="4663440"/>
            <a:ext cx="8321040" cy="347472"/>
          </a:xfrm>
          <a:prstGeom prst="rect">
            <a:avLst>
              <a:gd name="adj" fmla="val 18421"/>
            </a:avLst>
          </a:prstGeom>
          <a:solidFill>
            <a:srgbClr val="111118"/>
          </a:solidFill>
          <a:ln w="12700">
            <a:solidFill>
              <a:srgbClr val="C8D8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8172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all headline numbers live:  python -B scripts\verify_everything.py  (~90s, 12 gates)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400300"/>
          </a:xfrm>
          <a:prstGeom prst="rect">
            <a:avLst/>
          </a:prstGeom>
          <a:solidFill>
            <a:srgbClr val="2D3A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25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0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150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</a:t>
            </a:r>
            <a:endParaRPr lang="en-US" sz="11000" dirty="0"/>
          </a:p>
        </p:txBody>
      </p:sp>
      <p:sp>
        <p:nvSpPr>
          <p:cNvPr id="38" name="Shape 36"/>
          <p:cNvSpPr/>
          <p:nvPr/>
        </p:nvSpPr>
        <p:spPr>
          <a:xfrm>
            <a:off x="3200400" y="2194560"/>
            <a:ext cx="2743200" cy="54864"/>
          </a:xfrm>
          <a:prstGeom prst="rect">
            <a:avLst/>
          </a:prstGeom>
          <a:solidFill>
            <a:srgbClr val="C8D8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Evidence-Gated Catalog Intelligence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118/118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cells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9456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1945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Dual-pass failures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4048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8404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48640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critic A/B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3232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13232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values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 welcome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ELIO  ·  UniHack 2026  ·  Every value traced or honestly refused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2026-08-21T19:43:21Z</dcterms:created>
  <dcterms:modified xsi:type="dcterms:W3CDTF">2026-08-21T19:43:21Z</dcterms:modified>
</cp:coreProperties>
</file>